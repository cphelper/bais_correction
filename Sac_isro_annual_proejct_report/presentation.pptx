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Satellite Data to Improve Climate Models:</a:t>
            </a:r>
            <a:br/>
            <a:r>
              <a:rPr/>
              <a:t>Correcting Sea Level and Wave Height Projections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ISRO Research Grant Project | Progress Update (Mar 2025–Jan 2026)</a:t>
            </a:r>
            <a:br/>
            <a:br/>
            <a:r>
              <a:rPr/>
              <a:t>Dr. Pritam Anand (PI)</a:t>
            </a:r>
            <a:br/>
            <a:r>
              <a:rPr/>
              <a:t>Shyam Saktawat (JRF)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  <a:p>
            <a:pPr lvl="0" indent="0" marL="0">
              <a:buNone/>
            </a:pPr>
            <a:r>
              <a:rPr/>
              <a:t>Why this matters</a:t>
            </a:r>
          </a:p>
          <a:p>
            <a:pPr lvl="0"/>
            <a:r>
              <a:rPr/>
              <a:t>To keep coastal communities safe, we need accurate predictions of sea levels and waves.</a:t>
            </a:r>
          </a:p>
          <a:p>
            <a:pPr lvl="0"/>
            <a:r>
              <a:rPr/>
              <a:t>Current climate models (CMIP6) give long-term forecasts but often have errors.</a:t>
            </a:r>
          </a:p>
          <a:p>
            <a:pPr lvl="0"/>
            <a:r>
              <a:rPr/>
              <a:t>Satellite data provides a reliable "ground truth" to measure and fix these errors.</a:t>
            </a:r>
          </a:p>
          <a:p>
            <a:pPr lvl="0" indent="0" marL="0">
              <a:buNone/>
            </a:pPr>
            <a:r>
              <a:rPr/>
              <a:t>What we measure</a:t>
            </a:r>
          </a:p>
          <a:p>
            <a:pPr lvl="0"/>
            <a:r>
              <a:rPr/>
              <a:t>Significant Wave Height (SWH) and Sea Level Anomaly (SLA).</a:t>
            </a:r>
          </a:p>
          <a:p>
            <a:pPr lvl="0"/>
            <a:r>
              <a:rPr/>
              <a:t>Focus: Indian Ocean; using overlapping data periods to train our models.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Problem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 Problem and Objectives</a:t>
            </a:r>
          </a:p>
          <a:p>
            <a:pPr lvl="0" indent="0" marL="0">
              <a:buNone/>
            </a:pPr>
            <a:r>
              <a:rPr/>
              <a:t>The Problem</a:t>
            </a:r>
          </a:p>
          <a:p>
            <a:pPr lvl="0"/>
            <a:r>
              <a:rPr/>
              <a:t>Climate models struggle with local details, causing errors that vary by location and season.</a:t>
            </a:r>
          </a:p>
          <a:p>
            <a:pPr lvl="0"/>
            <a:r>
              <a:rPr/>
              <a:t>If uncorrected, these errors make it hard to predict future risks like floods or storms.</a:t>
            </a:r>
          </a:p>
          <a:p>
            <a:pPr lvl="0" indent="0" marL="0">
              <a:buNone/>
            </a:pPr>
            <a:r>
              <a:rPr/>
              <a:t>Our Objectives</a:t>
            </a:r>
          </a:p>
          <a:p>
            <a:pPr lvl="0" indent="-342900" marL="342900">
              <a:buAutoNum type="arabicPeriod"/>
            </a:pPr>
            <a:r>
              <a:rPr/>
              <a:t>Measure exactly how much the climate models differ from satellite observations.</a:t>
            </a:r>
          </a:p>
          <a:p>
            <a:pPr lvl="0" indent="-342900" marL="342900">
              <a:buAutoNum type="arabicPeriod"/>
            </a:pPr>
            <a:r>
              <a:rPr/>
              <a:t>Build a Machine Learning tool to correct these errors.</a:t>
            </a:r>
          </a:p>
          <a:p>
            <a:pPr lvl="0" indent="-342900" marL="342900">
              <a:buAutoNum type="arabicPeriod"/>
            </a:pPr>
            <a:r>
              <a:rPr/>
              <a:t>Create better, more reliable future climate predictions for policymakers.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Literature Review</a:t>
            </a:r>
          </a:p>
          <a:p>
            <a:pPr lvl="0" indent="0" marL="0">
              <a:buNone/>
            </a:pPr>
            <a:r>
              <a:rPr/>
              <a:t>What is established</a:t>
            </a:r>
          </a:p>
          <a:p>
            <a:pPr lvl="0"/>
            <a:r>
              <a:rPr/>
              <a:t>Traditional statistical fixes often fail when errors are complex or changing over time.</a:t>
            </a:r>
          </a:p>
          <a:p>
            <a:pPr lvl="0"/>
            <a:r>
              <a:rPr/>
              <a:t>Machine Learning is better at finding and fixing these complex error patterns.</a:t>
            </a:r>
          </a:p>
          <a:p>
            <a:pPr lvl="0"/>
            <a:r>
              <a:rPr/>
              <a:t>Satellites give us the best global coverage to check these ocean models.</a:t>
            </a:r>
          </a:p>
          <a:p>
            <a:pPr lvl="0" indent="0" marL="0">
              <a:buNone/>
            </a:pPr>
            <a:r>
              <a:rPr/>
              <a:t>Why our approach works We use satellite data to guide a Machine Learning model, creating a scalable way to fix climate predictions.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</a:t>
            </a:r>
          </a:p>
          <a:p>
            <a:pPr lvl="0" indent="0" marL="0">
              <a:buNone/>
            </a:pPr>
            <a:r>
              <a:rPr/>
              <a:t>0.56</a:t>
            </a:r>
          </a:p>
          <a:p>
            <a:pPr lvl="0" indent="0" marL="0">
              <a:buNone/>
            </a:pPr>
            <a:r>
              <a:rPr/>
              <a:t>Data and preprocessing</a:t>
            </a:r>
          </a:p>
          <a:p>
            <a:pPr lvl="0"/>
            <a:r>
              <a:rPr/>
              <a:t>Observations: Combined satellite data (SWH, SLA).</a:t>
            </a:r>
          </a:p>
          <a:p>
            <a:pPr lvl="0"/>
            <a:r>
              <a:rPr/>
              <a:t>Models: CMIP6 historical data + Future scenarios.</a:t>
            </a:r>
          </a:p>
          <a:p>
            <a:pPr lvl="0"/>
            <a:r>
              <a:rPr/>
              <a:t>Steps: Monthly averages, quality checks, and matching model grids to satellite data.</a:t>
            </a:r>
          </a:p>
          <a:p>
            <a:pPr lvl="0" indent="0" marL="0">
              <a:buNone/>
            </a:pPr>
            <a:r>
              <a:rPr/>
              <a:t>Correction and evaluation</a:t>
            </a:r>
          </a:p>
          <a:p>
            <a:pPr lvl="0"/>
            <a:r>
              <a:rPr/>
              <a:t>Inputs: Model prediction + Location (Lat/Lon) + Time.</a:t>
            </a:r>
          </a:p>
          <a:p>
            <a:pPr lvl="0"/>
            <a:r>
              <a:rPr/>
              <a:t>Training Split: 2015–2018 for training; 2019–2020 for testing.</a:t>
            </a:r>
          </a:p>
          <a:p>
            <a:pPr lvl="0"/>
            <a:r>
              <a:rPr/>
              <a:t>Metrics: We measure error reduction (RMSE) to see how much we improved.</a:t>
            </a:r>
          </a:p>
          <a:p>
            <a:pPr lvl="0" indent="0" marL="0">
              <a:buNone/>
            </a:pPr>
            <a:r>
              <a:rPr/>
              <a:t>0.44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Done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Done</a:t>
            </a:r>
          </a:p>
          <a:p>
            <a:pPr lvl="0"/>
            <a:r>
              <a:rPr/>
              <a:t>Gathered and organized data from multiple satellites for Sea Level and Wave Height.</a:t>
            </a:r>
          </a:p>
          <a:p>
            <a:pPr lvl="0"/>
            <a:r>
              <a:rPr/>
              <a:t>Processed CMIP6 climate model data to match the satellite format.</a:t>
            </a:r>
          </a:p>
          <a:p>
            <a:pPr lvl="0"/>
            <a:r>
              <a:rPr/>
              <a:t>Built and tested the first version of our Machine Learning correction tool.</a:t>
            </a:r>
          </a:p>
          <a:p>
            <a:pPr lvl="0"/>
            <a:r>
              <a:rPr/>
              <a:t>Checked how well it works on new data it hasn’t seen before (2019–2020).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Spatial Bias Analysis</a:t>
                </a:r>
              </a:p>
              <a:p>
                <a:pPr lvl="0" indent="0" marL="0">
                  <a:buNone/>
                </a:pPr>
                <a:r>
                  <a:rPr/>
                  <a:t>0.4</a:t>
                </a:r>
              </a:p>
              <a:p>
                <a:pPr lvl="0" indent="0" marL="0">
                  <a:buNone/>
                </a:pPr>
                <a:r>
                  <a:rPr/>
                  <a:t>Bias Distribution</a:t>
                </a:r>
              </a:p>
              <a:p>
                <a:pPr lvl="0"/>
                <a:r>
                  <a:rPr/>
                  <a:t>Map shows where the model overestimates (red) or underestimates (blue) wave heights.</a:t>
                </a:r>
              </a:p>
              <a:p>
                <a:pPr lvl="0"/>
                <a:r>
                  <a:rPr b="1"/>
                  <a:t>High Bias Regions:</a:t>
                </a:r>
                <a:r>
                  <a:rPr/>
                  <a:t> Arabian Sea and Southern Ocean show strong overestimation.</a:t>
                </a:r>
              </a:p>
              <a:p>
                <a:pPr lvl="0"/>
                <a:r>
                  <a:rPr b="1"/>
                  <a:t>Implication:</a:t>
                </a:r>
                <a:r>
                  <a:rPr/>
                  <a:t> A single correction factor isn’t enough; we need location-specific corrections.</a:t>
                </a:r>
              </a:p>
              <a:p>
                <a:pPr lvl="0" indent="0" marL="0">
                  <a:buNone/>
                </a:pPr>
                <a:r>
                  <a:rPr/>
                  <a:t>0.6 image Fig: Spatial distribution of mean bias (Model - Observation) over Indian Ocean</a:t>
                </a:r>
              </a:p>
              <a:p>
                <a:pPr lvl="0" indent="0" marL="0">
                  <a:buNone/>
                </a:pPr>
                <a:r>
                  <a:rPr/>
                  <a:t>Detailed Performance Metrics</a:t>
                </a:r>
              </a:p>
              <a:p>
                <a:pPr lvl="0" indent="0" marL="0">
                  <a:buNone/>
                </a:pPr>
                <a:r>
                  <a:rPr/>
                  <a:t>Model Performance on Independent Test Set (2019–2020)</a:t>
                </a:r>
              </a:p>
              <a:p>
                <a:pPr lvl="0"/>
                <a:r>
                  <a:rPr b="1"/>
                  <a:t>RMSE reduced by 33%</a:t>
                </a:r>
                <a:r>
                  <a:rPr/>
                  <a:t>, indicating significantly better accuracy.</a:t>
                </a:r>
              </a:p>
              <a:p>
                <a:pPr lvl="0"/>
                <a:r>
                  <a:rPr b="1"/>
                  <a:t>Bias eliminated</a:t>
                </a:r>
                <a:r>
                  <a:rPr/>
                  <a:t> (near zero), removing systematic errors.</a:t>
                </a:r>
              </a:p>
              <a:p>
                <a:pPr lvl="0"/>
                <a:r>
                  <a:rPr b="1"/>
                  <a:t>High </a:t>
                </a:r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 b="1"/>
                  <a:t> (0.88)</a:t>
                </a:r>
                <a:r>
                  <a:rPr/>
                  <a:t> confirms the model captures most of the variability.</a:t>
                </a:r>
              </a:p>
              <a:p>
                <a:pPr lvl="0" indent="0" marL="0">
                  <a:buNone/>
                </a:pPr>
                <a:r>
                  <a:rPr/>
                  <a:t>Temporal and Scatter Analysis</a:t>
                </a:r>
              </a:p>
              <a:p>
                <a:pPr lvl="0" indent="0" marL="0">
                  <a:buNone/>
                </a:pPr>
                <a:r>
                  <a:rPr/>
                  <a:t>0.5 image Time Series: Corrected data (green) tracks observations (black) much better than raw model (red).</a:t>
                </a:r>
              </a:p>
              <a:p>
                <a:pPr lvl="0" indent="0" marL="0">
                  <a:buNone/>
                </a:pPr>
                <a:r>
                  <a:rPr/>
                  <a:t>0.5 image Scatter Plot: Points align closer to the 1:1 diagonal after correction.</a:t>
                </a:r>
              </a:p>
              <a:p>
                <a:pPr lvl="0" indent="0" marL="0">
                  <a:buNone/>
                </a:pPr>
                <a:r>
                  <a:rPr/>
                  <a:t>Distribution Diagnostics</a:t>
                </a:r>
              </a:p>
              <a:p>
                <a:pPr lvl="0" indent="0" marL="0">
                  <a:buNone/>
                </a:pPr>
                <a:r>
                  <a:rPr/>
                  <a:t>0.38</a:t>
                </a:r>
              </a:p>
              <a:p>
                <a:pPr lvl="0" indent="0" marL="0">
                  <a:buNone/>
                </a:pPr>
                <a:r>
                  <a:rPr/>
                  <a:t>What this shows</a:t>
                </a:r>
              </a:p>
              <a:p>
                <a:pPr lvl="0"/>
                <a:r>
                  <a:rPr/>
                  <a:t>Raw model shifts the SWH distribution toward higher values.</a:t>
                </a:r>
              </a:p>
              <a:p>
                <a:pPr lvl="0"/>
                <a:r>
                  <a:rPr/>
                  <a:t>Correction aligns bulk distribution closer to observations.</a:t>
                </a:r>
              </a:p>
              <a:p>
                <a:pPr lvl="0"/>
                <a:r>
                  <a:rPr/>
                  <a:t>Tail behaviour needs careful evaluation for extremes.</a:t>
                </a:r>
              </a:p>
              <a:p>
                <a:pPr lvl="0" indent="0" marL="0">
                  <a:buNone/>
                </a:pPr>
                <a:r>
                  <a:rPr/>
                  <a:t>0.62 image</a:t>
                </a:r>
              </a:p>
              <a:p>
                <a:pPr lvl="0" indent="0" marL="0">
                  <a:buNone/>
                </a:pPr>
                <a:r>
                  <a:rPr/>
                  <a:t>Monthly Climatology image</a:t>
                </a:r>
              </a:p>
              <a:p>
                <a:pPr lvl="0"/>
                <a:r>
                  <a:rPr/>
                  <a:t>Climatology highlights seasonal bias patterns and monsoon-driven variability.</a:t>
                </a:r>
              </a:p>
              <a:p>
                <a:pPr lvl="0" indent="0" marL="0">
                  <a:buNone/>
                </a:pPr>
                <a:r>
                  <a:rPr/>
                  <a:t>Performance Summary and Comparison</a:t>
                </a:r>
              </a:p>
              <a:p>
                <a:pPr lvl="0" indent="0" marL="0">
                  <a:buNone/>
                </a:pPr>
                <a:r>
                  <a:rPr/>
                  <a:t>0.5 image Summary metrics across the evaluation period.</a:t>
                </a:r>
              </a:p>
              <a:p>
                <a:pPr lvl="0" indent="0" marL="0">
                  <a:buNone/>
                </a:pPr>
                <a:r>
                  <a:rPr/>
                  <a:t>0.5 image Comparison with alternative approaches.</a:t>
                </a:r>
              </a:p>
              <a:p>
                <a:pPr lvl="0" indent="0" marL="0">
                  <a:buNone/>
                </a:pPr>
                <a:r>
                  <a:rPr/>
                  <a:t>SLA Bias Maps (Raw vs Corrected)</a:t>
                </a:r>
              </a:p>
              <a:p>
                <a:pPr lvl="0" indent="0" marL="0">
                  <a:buNone/>
                </a:pPr>
                <a:r>
                  <a:rPr/>
                  <a:t>0.35</a:t>
                </a:r>
              </a:p>
              <a:p>
                <a:pPr lvl="0" indent="0" marL="0">
                  <a:buNone/>
                </a:pPr>
                <a:r>
                  <a:rPr/>
                  <a:t>Key points</a:t>
                </a:r>
              </a:p>
              <a:p>
                <a:pPr lvl="0"/>
                <a:r>
                  <a:rPr/>
                  <a:t>Raw SLA shows spatially structured bias patterns.</a:t>
                </a:r>
              </a:p>
              <a:p>
                <a:pPr lvl="0"/>
                <a:r>
                  <a:rPr/>
                  <a:t>Correction reduces bias magnitude across the region.</a:t>
                </a:r>
              </a:p>
              <a:p>
                <a:pPr lvl="0" indent="0" marL="0">
                  <a:buNone/>
                </a:pPr>
                <a:r>
                  <a:rPr/>
                  <a:t>0.65 image</a:t>
                </a:r>
              </a:p>
              <a:p>
                <a:pPr lvl="0" indent="0" marL="0">
                  <a:buNone/>
                </a:pPr>
                <a:r>
                  <a:rPr/>
                  <a:t>Comprehensive Error Analysis image</a:t>
                </a:r>
              </a:p>
              <a:p>
                <a:pPr lvl="0" indent="0" marL="0">
                  <a:buNone/>
                </a:pPr>
                <a:r>
                  <a:rPr/>
                  <a:t>Seasonal and Regional Analysis</a:t>
                </a:r>
              </a:p>
              <a:p>
                <a:pPr lvl="0" indent="0" marL="0">
                  <a:buNone/>
                </a:pPr>
                <a:r>
                  <a:rPr/>
                  <a:t>0.5 image Seasonal Cycle: Correction improves consistency across monsoon seasons.</a:t>
                </a:r>
              </a:p>
              <a:p>
                <a:pPr lvl="0" indent="0" marL="0">
                  <a:buNone/>
                </a:pPr>
                <a:r>
                  <a:rPr/>
                  <a:t>0.5 image Regional Performance: Error reduction is consistent across all sub-basins.</a:t>
                </a:r>
              </a:p>
              <a:p>
                <a:pPr lvl="0" indent="0" marL="0">
                  <a:buNone/>
                </a:pPr>
                <a:r>
                  <a:rPr/>
                  <a:t>Extremes and Benchmarks</a:t>
                </a:r>
              </a:p>
              <a:p>
                <a:pPr lvl="0" indent="0" marL="0">
                  <a:buNone/>
                </a:pPr>
                <a:r>
                  <a:rPr/>
                  <a:t>0.5 </a:t>
                </a:r>
                <a:r>
                  <a:rPr b="1"/>
                  <a:t>Tail Performance (Extremes)</a:t>
                </a:r>
                <a:r>
                  <a:rPr/>
                  <a:t> image Performance on top 5% extreme waves.</a:t>
                </a:r>
              </a:p>
              <a:p>
                <a:pPr lvl="0" indent="0" marL="0">
                  <a:buNone/>
                </a:pPr>
                <a:r>
                  <a:rPr/>
                  <a:t>0.5 </a:t>
                </a:r>
                <a:r>
                  <a:rPr b="1"/>
                  <a:t>Computational Cost</a:t>
                </a:r>
                <a:r>
                  <a:rPr/>
                  <a:t> image Random Forest offers best trade-off between speed and accuracy.</a:t>
                </a:r>
              </a:p>
              <a:p>
                <a:pPr lvl="0" indent="0" marL="0">
                  <a:buNone/>
                </a:pPr>
                <a:r>
                  <a:rPr/>
                  <a:t>Results (Initial Summary)</a:t>
                </a:r>
              </a:p>
              <a:p>
                <a:pPr lvl="0" indent="0" marL="0">
                  <a:buNone/>
                </a:pPr>
                <a:r>
                  <a:rPr/>
                  <a:t>0.52</a:t>
                </a:r>
              </a:p>
              <a:p>
                <a:pPr lvl="0" indent="0" marL="0">
                  <a:buNone/>
                </a:pPr>
                <a:r>
                  <a:rPr/>
                  <a:t>Test Performance (Unseen Data)</a:t>
                </a:r>
              </a:p>
              <a:p>
                <a:pPr lvl="0" indent="0" marL="0">
                  <a:buNone/>
                </a:pPr>
                <a:r>
                  <a:rPr/>
                  <a:t>Key takeaways</a:t>
                </a:r>
              </a:p>
              <a:p>
                <a:pPr lvl="0"/>
                <a:r>
                  <a:rPr/>
                  <a:t>SWH correction is robust over the Indian Ocean.</a:t>
                </a:r>
              </a:p>
              <a:p>
                <a:pPr lvl="0"/>
                <a:r>
                  <a:rPr/>
                  <a:t>SLA work is preliminary (specific timeline only) and needs extension to longer periods.</a:t>
                </a:r>
              </a:p>
              <a:p>
                <a:pPr lvl="0"/>
                <a:r>
                  <a:rPr/>
                  <a:t>Errors follow specific patterns in space and time; our tool captures this well.</a:t>
                </a:r>
              </a:p>
              <a:p>
                <a:pPr lvl="0" indent="0" marL="0">
                  <a:buNone/>
                </a:pPr>
                <a:r>
                  <a:rPr/>
                  <a:t>0.48 image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Proposed During the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Proposed During the Next Year</a:t>
            </a:r>
          </a:p>
          <a:p>
            <a:pPr lvl="0"/>
            <a:r>
              <a:rPr/>
              <a:t>Apply this method to the full 8-year dataset (2015–2023) for the Indian Ocean.</a:t>
            </a:r>
          </a:p>
          <a:p>
            <a:pPr lvl="0"/>
            <a:r>
              <a:rPr/>
              <a:t>Test it on more sub-regions and different climate models.</a:t>
            </a:r>
          </a:p>
          <a:p>
            <a:pPr lvl="0"/>
            <a:r>
              <a:rPr/>
              <a:t>Estimate our confidence levels for every prediction (uncertainty analysis).</a:t>
            </a:r>
          </a:p>
          <a:p>
            <a:pPr lvl="0"/>
            <a:r>
              <a:rPr/>
              <a:t>Use the proven tool to correct future climate forecasts (SSP scenarios) and share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  <a:p>
            <a:pPr lvl="0"/>
            <a:r>
              <a:rPr/>
              <a:t>Created a complete system to check and fix climate model errors using satellites.</a:t>
            </a:r>
          </a:p>
          <a:p>
            <a:pPr lvl="0"/>
            <a:r>
              <a:rPr/>
              <a:t>Early tests show we cut the errors by nearly half (significant improvement).</a:t>
            </a:r>
          </a:p>
          <a:p>
            <a:pPr lvl="0"/>
            <a:r>
              <a:rPr/>
              <a:t>Coming up: Applying this to future climate scenarios to help decision-making.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  <a:p>
            <a:pPr lvl="0" indent="0" marL="0">
              <a:buNone/>
            </a:pPr>
            <a:r>
              <a:rPr/>
              <a:t>10</a:t>
            </a:r>
          </a:p>
          <a:p>
            <a:pPr lvl="0" indent="0" marL="0">
              <a:buNone/>
            </a:pPr>
            <a:r>
              <a:rPr/>
              <a:t>G. Lemos, M. Menendez, A. Semedo, J. P. Reis, and T. A. Adcock, “On the need of bias correction methods for wave climate projections,” </a:t>
            </a:r>
            <a:r>
              <a:rPr i="1"/>
              <a:t>Global Planet. Change</a:t>
            </a:r>
            <a:r>
              <a:rPr/>
              <a:t>, vol. 186, p. 103114, 2020.</a:t>
            </a:r>
          </a:p>
          <a:p>
            <a:pPr lvl="0" indent="0" marL="0">
              <a:buNone/>
            </a:pPr>
            <a:r>
              <a:rPr/>
              <a:t>D. Sun, W. Huang, Y. Luo, J. S. Wright, H. Fu, and B. Wang, “A deep learning-based bias correction method for predicting ocean surface waves in the Northwest Pacific Ocean,” </a:t>
            </a:r>
            <a:r>
              <a:rPr i="1"/>
              <a:t>Geophys. Res. Lett.</a:t>
            </a:r>
            <a:r>
              <a:rPr/>
              <a:t>, vol. 49, no. 23, e2022GL100916, 2022.</a:t>
            </a:r>
          </a:p>
          <a:p>
            <a:pPr lvl="0" indent="0" marL="0">
              <a:buNone/>
            </a:pPr>
            <a:r>
              <a:rPr/>
              <a:t>R. M. Campos, C. Guedes Soares, and L. Alves, “Extreme wave climate variability in the North Atlantic Ocean,” </a:t>
            </a:r>
            <a:r>
              <a:rPr i="1"/>
              <a:t>Ocean Eng.</a:t>
            </a:r>
            <a:r>
              <a:rPr/>
              <a:t>, vol. 150, pp. 199–210, 2018.</a:t>
            </a:r>
          </a:p>
          <a:p>
            <a:pPr lvl="0" indent="0" marL="0">
              <a:buNone/>
            </a:pPr>
            <a:r>
              <a:rPr/>
              <a:t>A. J. Cannon, “Multivariate quantile mapping bias correction: an N-dimensional probability density function transform for climate model simulations,” </a:t>
            </a:r>
            <a:r>
              <a:rPr i="1"/>
              <a:t>Clim. Dyn.</a:t>
            </a:r>
            <a:r>
              <a:rPr/>
              <a:t>, vol. 50, no. 1, pp. 31–49, 2018.</a:t>
            </a:r>
          </a:p>
          <a:p>
            <a:pPr lvl="0" indent="0" marL="0">
              <a:buNone/>
            </a:pPr>
            <a:r>
              <a:rPr/>
              <a:t>M. Reichstein </a:t>
            </a:r>
            <a:r>
              <a:rPr i="1"/>
              <a:t>et al.</a:t>
            </a:r>
            <a:r>
              <a:rPr/>
              <a:t>, “Deep learning and process understanding for data-driven Earth system science,” </a:t>
            </a:r>
            <a:r>
              <a:rPr i="1"/>
              <a:t>Nature</a:t>
            </a:r>
            <a:r>
              <a:rPr/>
              <a:t>, vol. 566, no. 7743, pp. 195–204, 2019.</a:t>
            </a:r>
          </a:p>
          <a:p>
            <a:pPr lvl="0" indent="0" marL="0">
              <a:buNone/>
            </a:pPr>
            <a:r>
              <a:rPr/>
              <a:t>L. Breiman, “Random forests,” </a:t>
            </a:r>
            <a:r>
              <a:rPr i="1"/>
              <a:t>Mach. Learn.</a:t>
            </a:r>
            <a:r>
              <a:rPr/>
              <a:t>, vol. 45, no. 1, pp. 5–32, 2001.</a:t>
            </a:r>
          </a:p>
          <a:p>
            <a:pPr lvl="0" indent="0" marL="0">
              <a:buNone/>
            </a:pPr>
            <a:r>
              <a:rPr/>
              <a:t>A. Ellenson, C. Pei, L. Özkan-Haller, F. Fiedler, and T. Haller, “An application of a machine learning algorithm to determine and describe error patterns in wave model datasets,” </a:t>
            </a:r>
            <a:r>
              <a:rPr i="1"/>
              <a:t>Coastal Eng.</a:t>
            </a:r>
            <a:r>
              <a:rPr/>
              <a:t>, vol. 157, p. 103595, 2020.</a:t>
            </a:r>
          </a:p>
          <a:p>
            <a:pPr lvl="0" indent="0" marL="0">
              <a:buNone/>
            </a:pPr>
            <a:r>
              <a:rPr/>
              <a:t>G. Lemos, A. Semedo, M. Dobrynin, M. Menendez, and P. M. Miranda, “Bias-corrected CMIP5-derived single-forcing future wind-wave climate projections,” </a:t>
            </a:r>
            <a:r>
              <a:rPr i="1"/>
              <a:t>J. Appl. Meteorol. Climatol.</a:t>
            </a:r>
            <a:r>
              <a:rPr/>
              <a:t>, vol. 59, no. 9, pp. 1525–1547, 2020.</a:t>
            </a:r>
          </a:p>
          <a:p>
            <a:pPr lvl="0" indent="0" marL="0">
              <a:buNone/>
            </a:pPr>
            <a:r>
              <a:rPr/>
              <a:t>A. Patra </a:t>
            </a:r>
            <a:r>
              <a:rPr i="1"/>
              <a:t>et al.</a:t>
            </a:r>
            <a:r>
              <a:rPr/>
              <a:t>, “Historical global ocean wave data simulated with CMIP6 anthropogenic and natural forcings,” </a:t>
            </a:r>
            <a:r>
              <a:rPr i="1"/>
              <a:t>Sci. Data</a:t>
            </a:r>
            <a:r>
              <a:rPr/>
              <a:t>, 2023.</a:t>
            </a:r>
          </a:p>
          <a:p>
            <a:pPr lvl="0" indent="0" marL="0">
              <a:buNone/>
            </a:pPr>
            <a:r>
              <a:rPr/>
              <a:t>A. Meucci </a:t>
            </a:r>
            <a:r>
              <a:rPr i="1"/>
              <a:t>et al.</a:t>
            </a:r>
            <a:r>
              <a:rPr/>
              <a:t>, “An 8-model ensemble of CMIP6-derived ocean surface wave climate,” </a:t>
            </a:r>
            <a:r>
              <a:rPr i="1"/>
              <a:t>Sci. Data</a:t>
            </a:r>
            <a:r>
              <a:rPr/>
              <a:t>, 2024.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Satellite Data to Improve Climate Models: Correcting Sea Level and Wave Height Projections</dc:title>
  <dc:creator>Dr. Pritam Anand (PI); Shyam Saktawat (JRF)</dc:creator>
  <cp:keywords/>
  <dcterms:created xsi:type="dcterms:W3CDTF">2026-02-04T08:39:56Z</dcterms:created>
  <dcterms:modified xsi:type="dcterms:W3CDTF">2026-02-04T08:39:56Z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 2026</vt:lpwstr>
  </property>
  <property fmtid="{D5CDD505-2E9C-101B-9397-08002B2CF9AE}" pid="3" name="subtitle">
    <vt:lpwstr>ISRO Research Grant Project | Progress Update (Mar 2025–Jan 2026)</vt:lpwstr>
  </property>
</Properties>
</file>